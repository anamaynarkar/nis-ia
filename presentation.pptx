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505F0D-DAB1-4178-A12B-850B3F3346E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D7B414-8D79-4D29-894D-ED84FB5CF0D2}" type="slidenum">
              <a:rPr lang="en-IN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982E82-24A9-4C8E-8E14-111B5544EF30}" type="slidenum">
              <a:rPr lang="en-IN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CD0E7A-D44C-4B43-B6D7-9EAE5AF2CC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38BBFF-8040-4716-9F59-8BE349E8D0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5"/>
          <p:cNvSpPr/>
          <p:nvPr/>
        </p:nvSpPr>
        <p:spPr>
          <a:xfrm>
            <a:off x="0" y="6080760"/>
            <a:ext cx="837360" cy="789840"/>
          </a:xfrm>
          <a:prstGeom prst="rect">
            <a:avLst/>
          </a:prstGeom>
          <a:solidFill>
            <a:srgbClr val="a425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38080" y="6356520"/>
            <a:ext cx="8305200" cy="514080"/>
            <a:chOff x="838080" y="6356520"/>
            <a:chExt cx="8305200" cy="514080"/>
          </a:xfrm>
        </p:grpSpPr>
        <p:sp>
          <p:nvSpPr>
            <p:cNvPr id="4" name="Google Shape;13;p5"/>
            <p:cNvSpPr/>
            <p:nvPr/>
          </p:nvSpPr>
          <p:spPr>
            <a:xfrm>
              <a:off x="7664400" y="6356520"/>
              <a:ext cx="1478880" cy="514080"/>
            </a:xfrm>
            <a:prstGeom prst="rect">
              <a:avLst/>
            </a:prstGeom>
            <a:solidFill>
              <a:srgbClr val="d922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" name="Google Shape;14;p5"/>
            <p:cNvSpPr/>
            <p:nvPr/>
          </p:nvSpPr>
          <p:spPr>
            <a:xfrm>
              <a:off x="838080" y="6356520"/>
              <a:ext cx="6825600" cy="514080"/>
            </a:xfrm>
            <a:prstGeom prst="rect">
              <a:avLst/>
            </a:prstGeom>
            <a:solidFill>
              <a:srgbClr val="a425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Fira Sans"/>
                <a:ea typeface="Fira Sans"/>
              </a:endParaRPr>
            </a:p>
          </p:txBody>
        </p:sp>
      </p:grpSp>
      <p:pic>
        <p:nvPicPr>
          <p:cNvPr id="6" name="Google Shape;21;p5" descr="Graphical user interface, text, application&#10;&#10;Description automatically generated"/>
          <p:cNvPicPr/>
          <p:nvPr/>
        </p:nvPicPr>
        <p:blipFill>
          <a:blip r:embed="rId2"/>
          <a:stretch/>
        </p:blipFill>
        <p:spPr>
          <a:xfrm>
            <a:off x="8316360" y="118080"/>
            <a:ext cx="727920" cy="53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Picture 1"/>
          <p:cNvPicPr/>
          <p:nvPr/>
        </p:nvPicPr>
        <p:blipFill>
          <a:blip r:embed="rId3"/>
          <a:stretch/>
        </p:blipFill>
        <p:spPr>
          <a:xfrm>
            <a:off x="-7560" y="0"/>
            <a:ext cx="2562840" cy="81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17200" y="514440"/>
            <a:ext cx="74023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1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D0490D3D-9BB7-450B-8195-B0912E729B0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3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2;p5"/>
          <p:cNvSpPr/>
          <p:nvPr/>
        </p:nvSpPr>
        <p:spPr>
          <a:xfrm>
            <a:off x="0" y="6080760"/>
            <a:ext cx="837360" cy="789840"/>
          </a:xfrm>
          <a:prstGeom prst="rect">
            <a:avLst/>
          </a:prstGeom>
          <a:solidFill>
            <a:srgbClr val="a425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grpSp>
        <p:nvGrpSpPr>
          <p:cNvPr id="16" name="Group 2"/>
          <p:cNvGrpSpPr/>
          <p:nvPr/>
        </p:nvGrpSpPr>
        <p:grpSpPr>
          <a:xfrm>
            <a:off x="838080" y="6356520"/>
            <a:ext cx="8305200" cy="514080"/>
            <a:chOff x="838080" y="6356520"/>
            <a:chExt cx="8305200" cy="514080"/>
          </a:xfrm>
        </p:grpSpPr>
        <p:sp>
          <p:nvSpPr>
            <p:cNvPr id="17" name="Google Shape;13;p5"/>
            <p:cNvSpPr/>
            <p:nvPr/>
          </p:nvSpPr>
          <p:spPr>
            <a:xfrm>
              <a:off x="7664400" y="6356520"/>
              <a:ext cx="1478880" cy="514080"/>
            </a:xfrm>
            <a:prstGeom prst="rect">
              <a:avLst/>
            </a:prstGeom>
            <a:solidFill>
              <a:srgbClr val="d922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18" name="Google Shape;14;p5"/>
            <p:cNvSpPr/>
            <p:nvPr/>
          </p:nvSpPr>
          <p:spPr>
            <a:xfrm>
              <a:off x="838080" y="6356520"/>
              <a:ext cx="6825600" cy="514080"/>
            </a:xfrm>
            <a:prstGeom prst="rect">
              <a:avLst/>
            </a:prstGeom>
            <a:solidFill>
              <a:srgbClr val="a425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Fira Sans"/>
                <a:ea typeface="Fira Sans"/>
              </a:endParaRPr>
            </a:p>
          </p:txBody>
        </p:sp>
      </p:grpSp>
      <p:pic>
        <p:nvPicPr>
          <p:cNvPr id="19" name="Google Shape;21;p5" descr="Graphical user interface, text, application&#10;&#10;Description automatically generated"/>
          <p:cNvPicPr/>
          <p:nvPr/>
        </p:nvPicPr>
        <p:blipFill>
          <a:blip r:embed="rId2"/>
          <a:stretch/>
        </p:blipFill>
        <p:spPr>
          <a:xfrm>
            <a:off x="8316360" y="118080"/>
            <a:ext cx="727920" cy="53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Picture 1"/>
          <p:cNvPicPr/>
          <p:nvPr/>
        </p:nvPicPr>
        <p:blipFill>
          <a:blip r:embed="rId3"/>
          <a:stretch/>
        </p:blipFill>
        <p:spPr>
          <a:xfrm>
            <a:off x="-7560" y="0"/>
            <a:ext cx="2562840" cy="81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ftr" idx="4"/>
          </p:nvPr>
        </p:nvSpPr>
        <p:spPr>
          <a:xfrm>
            <a:off x="3029040" y="6356520"/>
            <a:ext cx="30855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0D27D11E-1A89-44B9-95DD-BEAF7E85CCA5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6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2;p5"/>
          <p:cNvSpPr/>
          <p:nvPr/>
        </p:nvSpPr>
        <p:spPr>
          <a:xfrm>
            <a:off x="0" y="6080760"/>
            <a:ext cx="837360" cy="789840"/>
          </a:xfrm>
          <a:prstGeom prst="rect">
            <a:avLst/>
          </a:prstGeom>
          <a:solidFill>
            <a:srgbClr val="a425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grpSp>
        <p:nvGrpSpPr>
          <p:cNvPr id="27" name="Group 2"/>
          <p:cNvGrpSpPr/>
          <p:nvPr/>
        </p:nvGrpSpPr>
        <p:grpSpPr>
          <a:xfrm>
            <a:off x="838080" y="6356520"/>
            <a:ext cx="8305200" cy="514080"/>
            <a:chOff x="838080" y="6356520"/>
            <a:chExt cx="8305200" cy="514080"/>
          </a:xfrm>
        </p:grpSpPr>
        <p:sp>
          <p:nvSpPr>
            <p:cNvPr id="28" name="Google Shape;13;p5"/>
            <p:cNvSpPr/>
            <p:nvPr/>
          </p:nvSpPr>
          <p:spPr>
            <a:xfrm>
              <a:off x="7664400" y="6356520"/>
              <a:ext cx="1478880" cy="514080"/>
            </a:xfrm>
            <a:prstGeom prst="rect">
              <a:avLst/>
            </a:prstGeom>
            <a:solidFill>
              <a:srgbClr val="d922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29" name="Google Shape;14;p5"/>
            <p:cNvSpPr/>
            <p:nvPr/>
          </p:nvSpPr>
          <p:spPr>
            <a:xfrm>
              <a:off x="838080" y="6356520"/>
              <a:ext cx="6825600" cy="514080"/>
            </a:xfrm>
            <a:prstGeom prst="rect">
              <a:avLst/>
            </a:prstGeom>
            <a:solidFill>
              <a:srgbClr val="a425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Fira Sans"/>
                <a:ea typeface="Fira Sans"/>
              </a:endParaRPr>
            </a:p>
          </p:txBody>
        </p:sp>
      </p:grpSp>
      <p:pic>
        <p:nvPicPr>
          <p:cNvPr id="30" name="Google Shape;21;p5" descr="Graphical user interface, text, application&#10;&#10;Description automatically generated"/>
          <p:cNvPicPr/>
          <p:nvPr/>
        </p:nvPicPr>
        <p:blipFill>
          <a:blip r:embed="rId2"/>
          <a:stretch/>
        </p:blipFill>
        <p:spPr>
          <a:xfrm>
            <a:off x="8316360" y="118080"/>
            <a:ext cx="727920" cy="53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1"/>
          <p:cNvPicPr/>
          <p:nvPr/>
        </p:nvPicPr>
        <p:blipFill>
          <a:blip r:embed="rId3"/>
          <a:stretch/>
        </p:blipFill>
        <p:spPr>
          <a:xfrm>
            <a:off x="-7560" y="0"/>
            <a:ext cx="2562840" cy="81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  <p:sldLayoutId id="2147483654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/>
          <p:cNvPicPr/>
          <p:nvPr/>
        </p:nvPicPr>
        <p:blipFill>
          <a:blip r:embed="rId1"/>
          <a:stretch/>
        </p:blipFill>
        <p:spPr>
          <a:xfrm>
            <a:off x="11520" y="2286000"/>
            <a:ext cx="2770920" cy="291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"/>
          <p:cNvSpPr/>
          <p:nvPr/>
        </p:nvSpPr>
        <p:spPr>
          <a:xfrm>
            <a:off x="1828800" y="1519200"/>
            <a:ext cx="7086240" cy="14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Trivy - security scanner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782800" y="2286000"/>
            <a:ext cx="49892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identifing vulnerabilities, misconfigurations, secrets, and software licenses in container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3925800" y="3727080"/>
            <a:ext cx="49892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Presentation by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971800" y="4170960"/>
            <a:ext cx="426132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Aditya Pratap Singh – 16010123025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Anamay Narkar – 16010123040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Vraj Soni - 16010122309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70480" y="188640"/>
            <a:ext cx="740232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Problem Definition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83640" y="752400"/>
            <a:ext cx="8020440" cy="569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Modern software development relies heavily on third-party libraries, container images, and Infrastructure-as-Code (IaC). This introduces several security risks: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Vulnerability Sprawl: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Developers often use outdated or "buggy" dependencies (CVEs) without knowing it.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Misconfigurations: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Incorrectly set up Kubernets manifests or Dockerfiles (e.g., running as root) create easy entry points for attackers.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Secret Leaks: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Hardcoded API keys, tokens, or passwords accidentally committed to code repositories.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Manual Bottlenecks: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Traditional security audits are too slow for fast-paced DevOps cycles.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946520" y="188640"/>
            <a:ext cx="573588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Introduction of Trivy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99840" y="1239480"/>
            <a:ext cx="7111800" cy="469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Trivy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(developed by Aqua Security) is a comprehensive, multi-purpose security scanner.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Core Purpose: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To provide a single tool that can scan everything from a local filesystem to a cloud-native Kubernetes cluster.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Philosophy: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It is designed to be </a:t>
            </a: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stateless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and </a:t>
            </a: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easy to use,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it doesn’t require a complex database setup or a long installation process.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Ecosystem: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It is the default scanner for major platforms like </a:t>
            </a: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Harbor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, </a:t>
            </a: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GitLab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, and </a:t>
            </a: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Artifact Hub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946520" y="157680"/>
            <a:ext cx="573588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Features &amp; Functionalities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899640" y="837360"/>
            <a:ext cx="8119800" cy="5762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Trivy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is a 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"Swiss Army Knife" 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for security. Its main scanners include: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Vulnerability Scanning: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Detects known vulnerabilities (CVEs) in OS packages (Alpine, Ubuntu, etc.) and application dependencies (Python, Go, Java, etc.).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Misconfiguration Scanning (IaC):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Scans Terraform, Dockerfile, Kubernetes, and CloudFormation for security best practices.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Secret Scanning: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Searches for leaked passwords, AWS keys, and GitHub tokens.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SBOM Generation: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Can create a 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Software Bill of Materials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(standard formats like CycloneDX) to document every component in your software.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License Scanning: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Identifies software licenses to ensure legal compliance.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483640" y="214920"/>
            <a:ext cx="573588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Installation &amp; Setup Steps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06884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installed via pacman - package manager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2"/>
          <p:cNvSpPr/>
          <p:nvPr/>
        </p:nvSpPr>
        <p:spPr>
          <a:xfrm>
            <a:off x="352800" y="1798200"/>
            <a:ext cx="8804520" cy="37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90000" rIns="90000" tIns="45000" bIns="45000" anchor="ctr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Environment: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Implemented on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Arch Linux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using the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pacman package manager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Installation Command: sudo pacman -S trivy.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Installs the single, lightweight binary (~237 MB).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Verification: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trivy –version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Confirms version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0.69.3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is active.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Database Sync: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Automatically initialized and updated 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March 31, 2026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Ensures the scanner recognizes the latest "Zero-Day" threats and CVEs.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Key Advantage: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Stateless and ready to use immediately after a single command.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483640" y="214920"/>
            <a:ext cx="573588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Installation &amp; Setup Steps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Content Placeholder 4"/>
          <p:cNvPicPr/>
          <p:nvPr/>
        </p:nvPicPr>
        <p:blipFill>
          <a:blip r:embed="rId1"/>
          <a:stretch/>
        </p:blipFill>
        <p:spPr>
          <a:xfrm>
            <a:off x="457200" y="2061000"/>
            <a:ext cx="8228880" cy="309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70480" y="116640"/>
            <a:ext cx="740232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Results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Content Placeholder 5"/>
          <p:cNvPicPr/>
          <p:nvPr/>
        </p:nvPicPr>
        <p:blipFill>
          <a:blip r:embed="rId1"/>
          <a:stretch/>
        </p:blipFill>
        <p:spPr>
          <a:xfrm>
            <a:off x="1331640" y="1268640"/>
            <a:ext cx="6799680" cy="489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17200" y="214920"/>
            <a:ext cx="740232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Results 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Content Placeholder 4"/>
          <p:cNvPicPr/>
          <p:nvPr/>
        </p:nvPicPr>
        <p:blipFill>
          <a:blip r:embed="rId1"/>
          <a:stretch/>
        </p:blipFill>
        <p:spPr>
          <a:xfrm>
            <a:off x="1547640" y="1190520"/>
            <a:ext cx="6235560" cy="489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17200" y="214920"/>
            <a:ext cx="740232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Results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Content Placeholder 6"/>
          <p:cNvPicPr/>
          <p:nvPr/>
        </p:nvPicPr>
        <p:blipFill>
          <a:blip r:embed="rId1"/>
          <a:stretch/>
        </p:blipFill>
        <p:spPr>
          <a:xfrm>
            <a:off x="590760" y="894600"/>
            <a:ext cx="8247960" cy="239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/>
          <p:nvPr/>
        </p:nvPicPr>
        <p:blipFill>
          <a:blip r:embed="rId2"/>
          <a:stretch/>
        </p:blipFill>
        <p:spPr>
          <a:xfrm>
            <a:off x="594360" y="3319920"/>
            <a:ext cx="8247960" cy="266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17200" y="214920"/>
            <a:ext cx="740232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Security Implications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900000" y="1059480"/>
            <a:ext cx="7804440" cy="5185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Implementing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Trivy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has significant impacts on an organization's security posture: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Reduced Attack Surface: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By fixing "Critical" vulnerabilities before code is even deployed.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Compliance: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Helps meet standards like PCI-DSS or SOC2 by proving that software is regularly scanned.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Shift-Left Security: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Moving security checks from the "End" of development to the "Start" (the developer's machine).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Recent Alert (Note for Extra Credit):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Be aware that in March 2026, some versions of Trivy images (0.69.4–0.69.6) were briefly compromised in a supply chain attack. This highlights that even security tools must be verified via checksums or pinned to known clean versions (like 0.69.3).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70480" y="315000"/>
            <a:ext cx="740232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Applications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47840" y="1297080"/>
            <a:ext cx="7939800" cy="4753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CI/CD Pipelines: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Automatically fail a build if a high-severity vulnerability is found in a GitHub Action or Jenkins pipeline.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Container Registries: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Scanning images as soon as they are pushed to a registry.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Kubernetes Clusters: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Using the "Trivy Operator" to constantly monitor live pods for new vulnerabilities.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Local Development: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Developers scanning their own code before pushing it to the repository.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17200" y="214920"/>
            <a:ext cx="7402320" cy="87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55200" y="1189800"/>
            <a:ext cx="8247600" cy="489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The implementation and testing of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Trivy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demonstrate that modern security is no longer a "luxury" but a continuous requirement. By integrating this tool into our workflow, we transition from reactive patching 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proactive defense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Key Takeaways: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Visibility is Security: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Our results proved that even "working" code can hide critical vulnerabilities in the underlying Go standard library and third-party frameworks like Gin.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Beyond Vulnerabilities: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Trivy's ability to catch a hardcoded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MongoDB URI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on Line 14 of our source code highlights its value in preventing catastrophic data breaches caused by simple human error.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Operational Efficiency: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Because Trivy is stateless and lightning-fast (as seen in our Arch Linux setup), it can be embedded directly into CI/CD pipelines without slowing down the development cycle.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Manager>Vaibhav Vasani</Manager>
  <TotalTime>346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Honours</cp:category>
  <dcterms:created xsi:type="dcterms:W3CDTF">2021-02-11T03:47:51Z</dcterms:created>
  <dc:creator>Vaibhav Vasani</dc:creator>
  <dc:description>Vaibhav</dc:description>
  <cp:keywords>Data Visualization</cp:keywords>
  <dc:language>en-US</dc:language>
  <cp:lastModifiedBy/>
  <dcterms:modified xsi:type="dcterms:W3CDTF">2026-04-01T23:06:14Z</dcterms:modified>
  <cp:revision>29</cp:revision>
  <dc:subject>Data Visualization</dc:subject>
  <dc:title>H-DV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</vt:r8>
  </property>
  <property fmtid="{D5CDD505-2E9C-101B-9397-08002B2CF9AE}" pid="3" name="PresentationFormat">
    <vt:lpwstr>On-screen Show (4:3)</vt:lpwstr>
  </property>
  <property fmtid="{D5CDD505-2E9C-101B-9397-08002B2CF9AE}" pid="4" name="Slides">
    <vt:r8>12</vt:r8>
  </property>
</Properties>
</file>